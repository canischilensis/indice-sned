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A4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52A47"/>
                </a:solidFill>
                <a:latin typeface="Calibri"/>
              </a:rPr>
              <a:t>Coeficiente de determinación (R²)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52A4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2A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440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93A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Gradient Boosting</c:v>
                  </c:pt>
                  <c:pt idx="1">
                    <c:v>Red neuronal (MLP)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0.6372</c:v>
                </c:pt>
                <c:pt idx="1">
                  <c:v>0.6298</c:v>
                </c:pt>
                <c:pt idx="2">
                  <c:v>0.6135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12700" cap="flat">
              <a:solidFill>
                <a:srgbClr val="E4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sistema construido en la rama principal: ingesta, modelamiento, servicio y cliente. El asesor conversacional se presenta al cierre como valor agregado, no como objetivo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63% es la suma de los pesos de Superación, Igualdad, Iniciativa, Integración y Mejoramiento, cuyos insumos no son públicos. Solo Efectividad (37%) se reconstruye con dato abierto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componente tiene su propia frontera y se comunica por contrato. Esto permitió cambiar el origen de datos de archivos a base relacional sin tocar el modelo ni la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Enfoque acordado con el profesor guía: presentar el movimiento de las barras como priorización estratégica, no como ingreso de datos. Insertar aquí la captura del tablero del sostenedor; la misma imagen va en los anexos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aditividad es lo que distingue esta explicación de una narrativa generada. Se verifica en la suite: si la suma de contribuciones no reproduce la estimación dentro de 1e-3, la prueba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predictor trivial en cero es la verificación anti fuga de información: si el modelo aprendiera del propio índice, ese contraste no daría cero. Fuente: models/metadata/benchmark_arquitecturas.csv y benchmark_pruebas_pareadas.csv.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anticipa la pregunta obvia de la comisión: por qué cuatro factores tienen R² bajo. La respuesta es de disponibilidad de dato, y está declarada, no escondida.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de paridad es la que respalda que cambiar el origen de datos no altera el resultado. Los controles de arquitectura corren en integración continua y bloquean el envío si fallan.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como oportunidad detectada durante el desarrollo, según lo acordado con el profesor guía. Los guardarrailes impiden que el modelo invente cifras o prometa resultados de bonificación. La elección de Ollama sobre un proveedor en la nube es por protección de datos críticos.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Preparar respuesta para: por qué cuatro factores tienen R² bajo (disponibilidad de dato), y estado de calibración del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371600"/>
            <a:ext cx="4206240" cy="4206240"/>
          </a:xfrm>
          <a:prstGeom prst="ellipse">
            <a:avLst/>
          </a:prstGeom>
          <a:solidFill>
            <a:srgbClr val="24405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108960"/>
            <a:ext cx="2377440" cy="2377440"/>
          </a:xfrm>
          <a:prstGeom prst="ellipse">
            <a:avLst/>
          </a:prstGeom>
          <a:solidFill>
            <a:srgbClr val="D98A1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 DE TÍTULO  ·  INGENIERÍA CIVIL INFORMÁTICA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Simulador predictivo del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SNED mediante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 Explicable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24405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Vidal Astudillo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11880" y="324612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24405F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3383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 guía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Jerry Peña   ·   Félix Burgos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 · 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SNED define una bonificación docente que el sostenedor solo conoce cuando ya no puede actuar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45336"/>
            <a:ext cx="310896" cy="310896"/>
          </a:xfrm>
          <a:prstGeom prst="ellipse">
            <a:avLst/>
          </a:prstGeom>
          <a:solidFill>
            <a:srgbClr val="152A4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399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llega tarde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se comunica al cierre del bienio. La gestión que pudo mejorarlo ya ocurrió.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87168"/>
            <a:ext cx="310896" cy="310896"/>
          </a:xfrm>
          <a:prstGeom prst="ellipse">
            <a:avLst/>
          </a:prstGeom>
          <a:solidFill>
            <a:srgbClr val="15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340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es pública, el dato no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606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ponderaciones están en el decreto. Los insumos de tres factores no se publican.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182112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429000"/>
            <a:ext cx="310896" cy="310896"/>
          </a:xfrm>
          <a:prstGeom prst="ellipse">
            <a:avLst/>
          </a:prstGeom>
          <a:solidFill>
            <a:srgbClr val="152A47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2826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explica el porqué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47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establecimiento recibe un número, no las causas que lo produjeron.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1298448"/>
            <a:ext cx="2496312" cy="2414016"/>
          </a:xfrm>
          <a:prstGeom prst="roundRect">
            <a:avLst>
              <a:gd name="adj" fmla="val 2273"/>
            </a:avLst>
          </a:prstGeom>
          <a:solidFill>
            <a:srgbClr val="152A47"/>
          </a:solidFill>
          <a:ln w="12700">
            <a:solidFill>
              <a:srgbClr val="152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572768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63 %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355080" y="2395728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ponderación del índice depende de información que el organismo emisor no publica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310128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los 6 factores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contratos/catalogo_factores.json — suma de pesos de factores con restricción declarada.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718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predictivo del Índice SNED  ·  Universidad Andrés Bello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38160" y="4718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construí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componentes independientes, del dato público a la pantalla del sostenedor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883664" cy="1847088"/>
          </a:xfrm>
          <a:prstGeom prst="roundRect">
            <a:avLst>
              <a:gd name="adj" fmla="val 2970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883664" cy="566928"/>
          </a:xfrm>
          <a:prstGeom prst="roundRect">
            <a:avLst>
              <a:gd name="adj" fmla="val 9677"/>
            </a:avLst>
          </a:prstGeom>
          <a:solidFill>
            <a:srgbClr val="2E7D6F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32588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" y="1993392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11 fuentes públicas del MINEDUC y la Superintendencia en un modelo relacional único.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9464" y="1325880"/>
            <a:ext cx="1883664" cy="1847088"/>
          </a:xfrm>
          <a:prstGeom prst="roundRect">
            <a:avLst>
              <a:gd name="adj" fmla="val 2970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9464" y="1325880"/>
            <a:ext cx="1883664" cy="566928"/>
          </a:xfrm>
          <a:prstGeom prst="roundRect">
            <a:avLst>
              <a:gd name="adj" fmla="val 9677"/>
            </a:avLst>
          </a:prstGeom>
          <a:solidFill>
            <a:srgbClr val="152A47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132588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15768" y="1993392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el índice y descompone cada estimación en la contribución de cada variable.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36008" y="1325880"/>
            <a:ext cx="1883664" cy="1847088"/>
          </a:xfrm>
          <a:prstGeom prst="roundRect">
            <a:avLst>
              <a:gd name="adj" fmla="val 2970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1325880"/>
            <a:ext cx="1883664" cy="566928"/>
          </a:xfrm>
          <a:prstGeom prst="roundRect">
            <a:avLst>
              <a:gd name="adj" fmla="val 9677"/>
            </a:avLst>
          </a:prstGeom>
          <a:solidFill>
            <a:srgbClr val="D98A1F"/>
          </a:solidFill>
          <a:ln/>
        </p:spPr>
      </p:sp>
      <p:sp>
        <p:nvSpPr>
          <p:cNvPr id="14" name="Text 12"/>
          <p:cNvSpPr/>
          <p:nvPr/>
        </p:nvSpPr>
        <p:spPr>
          <a:xfrm>
            <a:off x="4782312" y="132588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82312" y="1993392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el sistema por API con control de acceso por rol y trazabilidad de cada consulta.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02552" y="1325880"/>
            <a:ext cx="1883664" cy="1847088"/>
          </a:xfrm>
          <a:prstGeom prst="roundRect">
            <a:avLst>
              <a:gd name="adj" fmla="val 2970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02552" y="1325880"/>
            <a:ext cx="1883664" cy="566928"/>
          </a:xfrm>
          <a:prstGeom prst="roundRect">
            <a:avLst>
              <a:gd name="adj" fmla="val 9677"/>
            </a:avLst>
          </a:prstGeom>
          <a:solidFill>
            <a:srgbClr val="A8353A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32588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48856" y="1993392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del sostenedor, simulador de escenarios y reporte de explicabilidad.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456432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152A47"/>
          </a:solidFill>
          <a:ln w="12700">
            <a:solidFill>
              <a:srgbClr val="152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56432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estima y explica. La decisión sigue siendo del director.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4718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predictivo del Índice SNED  ·  Universidad Andrés Bello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4718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simulador: dónde poner el esfuerzo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formulario. Es una herramienta para priorizar la inversión de gestión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permite responder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09344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93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índice gano si invierto en rendimiento de matemáticas?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762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¿Rinde más subir el SIMCE o retener a los estudiantes que se retiran?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4320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palanca mueve el resultado y cuál es ruido?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364992"/>
            <a:ext cx="3931920" cy="1078992"/>
          </a:xfrm>
          <a:prstGeom prst="roundRect">
            <a:avLst>
              <a:gd name="adj" fmla="val 5085"/>
            </a:avLst>
          </a:prstGeom>
          <a:solidFill>
            <a:srgbClr val="152A47"/>
          </a:solidFill>
          <a:ln w="12700">
            <a:solidFill>
              <a:srgbClr val="152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3649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sostenedor no compara puntajes.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 decisiones alternativas.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3931920" cy="3182112"/>
          </a:xfrm>
          <a:prstGeom prst="roundRect">
            <a:avLst>
              <a:gd name="adj" fmla="val 1724"/>
            </a:avLst>
          </a:prstGeom>
          <a:solidFill>
            <a:srgbClr val="F4F7FA"/>
          </a:solidFill>
          <a:ln w="15875">
            <a:solidFill>
              <a:srgbClr val="C3D0D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9204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simulador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163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por el pantallazo del módulo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B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sostenedor con las barras de escenario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718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predictivo del Índice SNED  ·  Universidad Andrés Bello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38160" y="4718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 número es ese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estimación se descompone en la contribución de cada variable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Aditividad verificada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700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Σ contribuciones = estimación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 comprobada por prueba automatizada con tolerancia de 1e-3. La explicación no es una narración: es una identidad que se cumple o falla.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Controlable y no controlable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73752" y="17556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separa lo que la dirección puede mover de lo que hereda del contexto. Sin esa distinción, la explicación no sirve para decidir.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8138160" cy="1426464"/>
          </a:xfrm>
          <a:prstGeom prst="roundRect">
            <a:avLst>
              <a:gd name="adj" fmla="val 3846"/>
            </a:avLst>
          </a:prstGeom>
          <a:solidFill>
            <a:srgbClr val="152A47"/>
          </a:solidFill>
          <a:ln w="12700">
            <a:solidFill>
              <a:srgbClr val="152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63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lectura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con sanción registrados ante la Superintendencia aparecen con contribución negativa sobre el índice estimado, con su magnitud explícita.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320040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24405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3101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35661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0" y="320040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24405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3101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35661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0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sanción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4718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predictivo del Índice SNED  ·  Universidad Andrés Bello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38160" y="4718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modelo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arquitecturas comparadas con validación agrupada por establecimiento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07008"/>
          <a:ext cx="5074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639312"/>
            <a:ext cx="4983480" cy="640080"/>
          </a:xfrm>
          <a:prstGeom prst="roundRect">
            <a:avLst>
              <a:gd name="adj" fmla="val 8571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6393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anti fuga:  </a:t>
            </a:r>
            <a:pPr indent="0" marL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predictor trivial obtiene R² = −0,000. El modelo no está leyendo el propio índice.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06440" y="1298448"/>
            <a:ext cx="2834640" cy="603504"/>
          </a:xfrm>
          <a:prstGeom prst="roundRect">
            <a:avLst>
              <a:gd name="adj" fmla="val 9091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2984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23.111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040880" y="129844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020824"/>
            <a:ext cx="2834640" cy="603504"/>
          </a:xfrm>
          <a:prstGeom prst="roundRect">
            <a:avLst>
              <a:gd name="adj" fmla="val 9091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020824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7.754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040880" y="202082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2743200"/>
            <a:ext cx="2834640" cy="603504"/>
          </a:xfrm>
          <a:prstGeom prst="roundRect">
            <a:avLst>
              <a:gd name="adj" fmla="val 9091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43200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040880" y="274320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entrada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06440" y="3465576"/>
            <a:ext cx="2834640" cy="603504"/>
          </a:xfrm>
          <a:prstGeom prst="roundRect">
            <a:avLst>
              <a:gd name="adj" fmla="val 9091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46557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2,33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040880" y="346557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medio (puntos)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3525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GroupKFold(5) agrupada por establecimiento. Gradient Boosting y la red neuronal resultan estadísticamente equivalentes (p = 0,119); ambos superan a Random Forest.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4718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predictivo del Índice SNED  ·  Universidad Andrés Bello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138160" y="4718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dónde llega el dato público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alcanza donde la información existe, y lo declara donde no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-8229600" y="-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FactorPesoR²Limitación de dato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63240" y="1188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94760" y="1188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17720" y="1188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del dato de origen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DCE9E5"/>
          </a:solidFill>
          <a:ln w="12700">
            <a:solidFill>
              <a:srgbClr val="DCE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6324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94760" y="1463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17720" y="1463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público completo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1929384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293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Superación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19293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94760" y="19293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192938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no publicada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395728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 de oportunidades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3240" y="23957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94760" y="23957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0,128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7720" y="23957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Sanciones sin desagregar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862072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862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63240" y="28620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794760" y="28620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17720" y="28620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autorreporte no pública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328416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284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participación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063240" y="33284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94760" y="33284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0,132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17720" y="33284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autorreporte no pública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3794760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Mejoramiento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063240" y="3794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794760" y="3794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0,024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17720" y="37947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autorreporte no pública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de mayor peso es también el mejor estimado. Los factores débiles lo son porque su insumo no se publica, no por elección de modelo.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4718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predictivo del Índice SNED  ·  Universidad Andrés Bello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38160" y="4718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sé que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se verifica en cada cambio, no se declara al final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883664" cy="1298448"/>
          </a:xfrm>
          <a:prstGeom prst="roundRect">
            <a:avLst>
              <a:gd name="adj" fmla="val 422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12648" y="196596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públicas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9464" y="1298448"/>
            <a:ext cx="1883664" cy="1298448"/>
          </a:xfrm>
          <a:prstGeom prst="roundRect">
            <a:avLst>
              <a:gd name="adj" fmla="val 422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9464" y="138988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79192" y="196596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cuatro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de nombres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6008" y="1298448"/>
            <a:ext cx="1883664" cy="1298448"/>
          </a:xfrm>
          <a:prstGeom prst="roundRect">
            <a:avLst>
              <a:gd name="adj" fmla="val 422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38988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45736" y="196596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02552" y="1298448"/>
            <a:ext cx="1883664" cy="1298448"/>
          </a:xfrm>
          <a:prstGeom prst="roundRect">
            <a:avLst>
              <a:gd name="adj" fmla="val 4225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138988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96596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8138160" cy="1627632"/>
          </a:xfrm>
          <a:prstGeom prst="roundRect">
            <a:avLst>
              <a:gd name="adj" fmla="val 3371"/>
            </a:avLst>
          </a:prstGeom>
          <a:solidFill>
            <a:srgbClr val="152A47"/>
          </a:solidFill>
          <a:ln w="12700">
            <a:solidFill>
              <a:srgbClr val="15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Compuerta de calidad automática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" y="3310128"/>
            <a:ext cx="310896" cy="310896"/>
          </a:xfrm>
          <a:prstGeom prst="ellipse">
            <a:avLst/>
          </a:prstGeom>
          <a:solidFill>
            <a:srgbClr val="24405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31012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fronteras entre componentes: un componente no puede importar lo que no le corresponde.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" y="3675888"/>
            <a:ext cx="310896" cy="310896"/>
          </a:xfrm>
          <a:prstGeom prst="ellipse">
            <a:avLst/>
          </a:prstGeom>
          <a:solidFill>
            <a:srgbClr val="24405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67588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completa de pruebas en cada envío al repositorio.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4041648"/>
            <a:ext cx="310896" cy="310896"/>
          </a:xfrm>
          <a:prstGeom prst="ellipse">
            <a:avLst/>
          </a:prstGeom>
          <a:solidFill>
            <a:srgbClr val="24405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404164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paridad: el sistema responde igual con archivos que con base de datos.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718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predictivo del Índice SNED  ·  Universidad Andrés Bello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4718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agregado detectado en el desarrollo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95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asesor de gestión conversacional. No formaba parte del objetivo inicial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la estimación y su explicación a lenguaje de gestión. No calcula el índice ni pondera factores: solo consulta lo que el sistema ya computó.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752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modelo local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3752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comparó un proveedor en la nube contra un modelo local sobre Ollama. Se optó por el local: el dato del establecimiento no sale de la máquina.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98064"/>
            <a:ext cx="8138160" cy="1207008"/>
          </a:xfrm>
          <a:prstGeom prst="roundRect">
            <a:avLst>
              <a:gd name="adj" fmla="val 4545"/>
            </a:avLst>
          </a:prstGeom>
          <a:solidFill>
            <a:srgbClr val="152A47"/>
          </a:solidFill>
          <a:ln w="12700">
            <a:solidFill>
              <a:srgbClr val="15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07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la comparación medida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77240" y="3584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cifras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inventadas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15768" y="3200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715768" y="3584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promesas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resultado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54296" y="3200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20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654296" y="3584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correcta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herramienta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92824" y="3200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92824" y="3584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rápido sobre rama anexa. No compromete el alcance ni los resultados del proyecto.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718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predictivo del Índice SNED  ·  Universidad Andrés Bello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38160" y="4718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926080"/>
            <a:ext cx="3840480" cy="3840480"/>
          </a:xfrm>
          <a:prstGeom prst="ellipse">
            <a:avLst/>
          </a:prstGeom>
          <a:solidFill>
            <a:srgbClr val="24405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síntesis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53896"/>
            <a:ext cx="310896" cy="310896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reconstruye el índice desde dato público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70432" y="1609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verifica contra la fórmula oficial del decreto.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310896" cy="310896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estima con explicación verificable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70432" y="2386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contribución suma exactamente la estimación.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008376"/>
            <a:ext cx="310896" cy="310896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simula para decidir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70432" y="3163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sostenedor compara alternativas de gestión, no puntajes.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7863840" cy="658368"/>
          </a:xfrm>
          <a:prstGeom prst="roundRect">
            <a:avLst>
              <a:gd name="adj" fmla="val 8333"/>
            </a:avLst>
          </a:prstGeom>
          <a:solidFill>
            <a:srgbClr val="2440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Vidal Astudillo   ·   Profesores guía: Jerry Peña y Félix Burgos   ·   Universidad Andrés Bello   · 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Simulador predictivo del Indice SNED mediante Inteligencia Artificial Explicable</dc:title>
  <dc:subject>PptxGenJS Presentation</dc:subject>
  <dc:creator>Guillermo Vidal Astudillo</dc:creator>
  <cp:lastModifiedBy>Guillermo Vidal Astudillo</cp:lastModifiedBy>
  <cp:revision>1</cp:revision>
  <dcterms:created xsi:type="dcterms:W3CDTF">2026-08-21T00:16:10Z</dcterms:created>
  <dcterms:modified xsi:type="dcterms:W3CDTF">2026-08-21T00:16:10Z</dcterms:modified>
</cp:coreProperties>
</file>